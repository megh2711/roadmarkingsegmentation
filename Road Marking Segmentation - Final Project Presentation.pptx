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  <p:embeddedFont>
      <p:font typeface="Helvetica Neue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b/hDYb8XZ1AQOb+0NzIACj0jO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FF7169-FBC8-4593-8C7A-5A2FBEA3C73B}">
  <a:tblStyle styleId="{A3FF7169-FBC8-4593-8C7A-5A2FBEA3C7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33" Type="http://schemas.openxmlformats.org/officeDocument/2006/relationships/font" Target="fonts/HelveticaNeueLight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Light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Light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b8fb6b73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7b8fb6b73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b8fb6b73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7b8fb6b73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7b8fb6b73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7b8fb6b73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ec7f7d31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ec7f7d31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b8fb6b73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7b8fb6b73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b8fb6b73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7b8fb6b73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7b8fb6b73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7b8fb6b73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7b8fb6b73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7b8fb6b73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7b8fb6b73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7b8fb6b73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7b8fb6b73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7b8fb6b73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b2fd7fac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eb2fd7fac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7b8fb6b73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7b8fb6b73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7b8fb6b73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7b8fb6b73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7b8fb6b73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7b8fb6b73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eb2fd7fac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deb2fd7fac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7b8fb6b73_1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7b8fb6b73_1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eb2fd7fac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eb2fd7fac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7c9a1b36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7c9a1b36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7b8fb6b73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7b8fb6b73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ec7f7d31e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dec7f7d31e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6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47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8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4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49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5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50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5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51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5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52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5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53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5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54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5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55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5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56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5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5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5"/>
            <p:cNvPicPr preferRelativeResize="0"/>
            <p:nvPr/>
          </p:nvPicPr>
          <p:blipFill rotWithShape="1">
            <a:blip r:embed="rId2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5"/>
            <p:cNvPicPr preferRelativeResize="0"/>
            <p:nvPr/>
          </p:nvPicPr>
          <p:blipFill rotWithShape="1">
            <a:blip r:embed="rId3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0" y="3372550"/>
            <a:ext cx="12192000" cy="6681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lang="en-US" sz="3800"/>
              <a:t>Road Marking Segmentation</a:t>
            </a:r>
            <a:endParaRPr sz="3800"/>
          </a:p>
        </p:txBody>
      </p:sp>
      <p:sp>
        <p:nvSpPr>
          <p:cNvPr id="89" name="Google Shape;89;p1"/>
          <p:cNvSpPr txBox="1"/>
          <p:nvPr>
            <p:ph type="title"/>
          </p:nvPr>
        </p:nvSpPr>
        <p:spPr>
          <a:xfrm>
            <a:off x="75" y="4112623"/>
            <a:ext cx="12192000" cy="6681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lang="en-US" sz="2000"/>
              <a:t>CSE641: Computer Vision: Modern Methods and Applications</a:t>
            </a:r>
            <a:endParaRPr sz="2000"/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0" y="6416100"/>
            <a:ext cx="12192000" cy="6681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</a:pPr>
            <a:r>
              <a:rPr b="0" lang="en-US" sz="2000"/>
              <a:t>School of Engineering and Applied Science, Ahmedabad University</a:t>
            </a:r>
            <a:endParaRPr b="0" sz="2000"/>
          </a:p>
        </p:txBody>
      </p:sp>
      <p:graphicFrame>
        <p:nvGraphicFramePr>
          <p:cNvPr id="91" name="Google Shape;91;p1"/>
          <p:cNvGraphicFramePr/>
          <p:nvPr/>
        </p:nvGraphicFramePr>
        <p:xfrm>
          <a:off x="1629050" y="4632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{A3FF7169-FBC8-4593-8C7A-5A2FBEA3C73B}</a:tableStyleId>
              </a:tblPr>
              <a:tblGrid>
                <a:gridCol w="2233475"/>
                <a:gridCol w="2233475"/>
                <a:gridCol w="2233475"/>
                <a:gridCol w="223347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400"/>
                        <a:buFont typeface="Helvetica Neue"/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Team: </a:t>
                      </a:r>
                      <a:r>
                        <a:rPr b="1" lang="en-US" sz="20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TechTitans</a:t>
                      </a:r>
                      <a:endParaRPr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Megh Patel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Devanshi Pathak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Dharmi Vekariya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Konark Karia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AU2544020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AU2544014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AU2544029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AU2544011</a:t>
                      </a:r>
                      <a:endParaRPr sz="170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831850" y="1544050"/>
            <a:ext cx="68376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Char char="●"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Safety:</a:t>
            </a: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Accurate road marking detection is critical for ADAS and autonomous vehicle navigation.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Char char="●"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Infrastructure:</a:t>
            </a: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Indian roads present unique challenges like weathered markings and non-standard layouts.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Char char="●"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Precision:</a:t>
            </a: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Semantic segmentation provides much finer detail than simple bounding-box detection. </a:t>
            </a:r>
            <a:endParaRPr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Our motivation stems from the need for reliable lane discipline in complex traffic. We aim to identify every pixel of road markings to ensure vehicles stay within safe boundaries.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9900" y="1681875"/>
            <a:ext cx="4032650" cy="4032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7b8fb6b73_1_3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06" name="Google Shape;106;g3d7b8fb6b73_1_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g3d7b8fb6b73_1_3"/>
          <p:cNvSpPr txBox="1"/>
          <p:nvPr/>
        </p:nvSpPr>
        <p:spPr>
          <a:xfrm>
            <a:off x="838200" y="1544038"/>
            <a:ext cx="10515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Helvetica Neue"/>
              <a:buChar char="●"/>
            </a:pPr>
            <a:r>
              <a:rPr b="1" lang="en-US" sz="2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Goal:</a:t>
            </a:r>
            <a:endParaRPr b="1" sz="2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 state-of-the-art models for diverse road marking identification.</a:t>
            </a:r>
            <a:endParaRPr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Helvetica Neue"/>
              <a:buChar char="●"/>
            </a:pPr>
            <a:r>
              <a:rPr b="1" lang="en-US" sz="2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Challenge</a:t>
            </a:r>
            <a:r>
              <a:rPr b="1" lang="en-US" sz="2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Varying lighting, road qualities, and complex marking types (zebra, broken, solid).</a:t>
            </a:r>
            <a:endParaRPr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Helvetica Neue"/>
              <a:buChar char="●"/>
            </a:pPr>
            <a:r>
              <a:rPr b="1" lang="en-US" sz="2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Scope:</a:t>
            </a:r>
            <a:endParaRPr b="1" sz="2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on ground-level imagery to build a robust feature extractor.</a:t>
            </a:r>
            <a:endParaRPr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Helvetica Neue"/>
              <a:buChar char="●"/>
            </a:pPr>
            <a:r>
              <a:rPr b="1" lang="en-US" sz="2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Brief Description:</a:t>
            </a:r>
            <a:endParaRPr b="1"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current problem is identifying diverse markings accurately under real-world conditions. We are evaluating which architecture (CNN or Transformer) handles these variations better.</a:t>
            </a:r>
            <a:endParaRPr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3d7b8fb6b73_1_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7b8fb6b73_1_18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Data Description: CeyMo Dataset</a:t>
            </a:r>
            <a:endParaRPr/>
          </a:p>
        </p:txBody>
      </p:sp>
      <p:sp>
        <p:nvSpPr>
          <p:cNvPr id="114" name="Google Shape;114;g3d7b8fb6b73_1_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g3d7b8fb6b73_1_18"/>
          <p:cNvSpPr txBox="1"/>
          <p:nvPr/>
        </p:nvSpPr>
        <p:spPr>
          <a:xfrm>
            <a:off x="838200" y="1544050"/>
            <a:ext cx="5257800" cy="4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Focus:</a:t>
            </a:r>
            <a:endParaRPr b="1" sz="2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Large-scale multi-view dataset for Indian road markings.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Volume:</a:t>
            </a:r>
            <a:endParaRPr sz="2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2,800+ high-resolution images.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b="1" lang="en-US" sz="2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Diversity:</a:t>
            </a:r>
            <a:endParaRPr sz="2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Covers urban, rural, and highway environments.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used the CeyMo dataset because it captures the specific "domain" of Indian roads. It provides the high-quality pixel-level masks necessary for training deep segmentation models.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16" name="Google Shape;116;g3d7b8fb6b73_1_18"/>
          <p:cNvSpPr txBox="1"/>
          <p:nvPr/>
        </p:nvSpPr>
        <p:spPr>
          <a:xfrm>
            <a:off x="6368000" y="1603438"/>
            <a:ext cx="52578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</a:pPr>
            <a:r>
              <a:rPr b="1"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Classes</a:t>
            </a:r>
            <a:endParaRPr b="1"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	</a:t>
            </a: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 lane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	Yellow Markings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	Line 1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	Line 2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	Crossing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 	Romb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7. 	Slow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 	Left Arrow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 	Forward Arrow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  Forward Arrow - Left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 </a:t>
            </a: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 Arrow - Right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12.  Right Arrow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13.  Bicycle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g3d7b8fb6b73_1_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7b8fb6b73_0_39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Sample Data Visuals</a:t>
            </a:r>
            <a:endParaRPr/>
          </a:p>
        </p:txBody>
      </p:sp>
      <p:sp>
        <p:nvSpPr>
          <p:cNvPr id="123" name="Google Shape;123;g3d7b8fb6b73_0_3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4" name="Google Shape;124;g3d7b8fb6b73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5813" y="1400350"/>
            <a:ext cx="4555874" cy="465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d7b8fb6b73_0_39"/>
          <p:cNvSpPr txBox="1"/>
          <p:nvPr/>
        </p:nvSpPr>
        <p:spPr>
          <a:xfrm>
            <a:off x="838200" y="1544050"/>
            <a:ext cx="59562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Image, Mask and Overlay</a:t>
            </a: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mapped the masks along with the road marking images in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-order to make our model understandable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Char char="●"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 Alignment Check:</a:t>
            </a:r>
            <a:endParaRPr b="1" sz="2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Verified masks against real-world features.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g3d7b8fb6b73_0_3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ec7f7d31e_0_0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32" name="Google Shape;132;g3dec7f7d31e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dec7f7d31e_0_0"/>
          <p:cNvSpPr txBox="1"/>
          <p:nvPr/>
        </p:nvSpPr>
        <p:spPr>
          <a:xfrm>
            <a:off x="831850" y="1394950"/>
            <a:ext cx="5257800" cy="20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</a:pP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DeepLab V3+</a:t>
            </a: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ASPP for multi-scale road markings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Atrous c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nvolution expands the field of view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Captured fine details with encoder-decoder structure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dec7f7d31e_0_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  <p:sp>
        <p:nvSpPr>
          <p:cNvPr id="135" name="Google Shape;135;g3dec7f7d31e_0_0"/>
          <p:cNvSpPr txBox="1"/>
          <p:nvPr/>
        </p:nvSpPr>
        <p:spPr>
          <a:xfrm>
            <a:off x="831850" y="3599700"/>
            <a:ext cx="52578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</a:pP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Segformer</a:t>
            </a: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Transformer-based for capturing long lane lines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position encodings for resolution flexibility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Lightweight MLP decoder improves computational efficiency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g3dec7f7d31e_0_0"/>
          <p:cNvSpPr txBox="1"/>
          <p:nvPr/>
        </p:nvSpPr>
        <p:spPr>
          <a:xfrm>
            <a:off x="6089650" y="1394950"/>
            <a:ext cx="52578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</a:pP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CeyMO</a:t>
            </a: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dataset for training 11 categories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Identifies domain gap in UAV views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Provides diverse annotations for complex scenarios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3dec7f7d31e_0_0"/>
          <p:cNvSpPr txBox="1"/>
          <p:nvPr/>
        </p:nvSpPr>
        <p:spPr>
          <a:xfrm>
            <a:off x="6089650" y="3599700"/>
            <a:ext cx="52578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</a:pP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Fusion</a:t>
            </a:r>
            <a:r>
              <a:rPr b="1" lang="en-US" sz="25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Integrated scales for non-linear marking accuracy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Supported project's ensemble model strategy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○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Combined markings for complete right-of-way data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b8fb6b73_1_26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Methodology: Framework &amp; Tools</a:t>
            </a:r>
            <a:endParaRPr/>
          </a:p>
        </p:txBody>
      </p:sp>
      <p:sp>
        <p:nvSpPr>
          <p:cNvPr id="143" name="Google Shape;143;g3d7b8fb6b73_1_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g3d7b8fb6b73_1_26"/>
          <p:cNvSpPr txBox="1"/>
          <p:nvPr/>
        </p:nvSpPr>
        <p:spPr>
          <a:xfrm>
            <a:off x="759400" y="2120875"/>
            <a:ext cx="10660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Library: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OpenMMLab’s </a:t>
            </a:r>
            <a:r>
              <a:rPr b="1"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MMSegmentation</a:t>
            </a:r>
            <a:endParaRPr b="1"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Language &amp; Backend: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Python, PyTorch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Hardware: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Google Colab (GPU-accelerated)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technical stack relies on MMSegmentation for its modularity. This allows us to easily swap backbones and compare different architectures like SegFormer and DeepLabV3+ within the same pipeline</a:t>
            </a:r>
            <a:endParaRPr b="1"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d7b8fb6b73_1_2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b8fb6b73_1_3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3d7b8fb6b73_1_35"/>
          <p:cNvSpPr txBox="1"/>
          <p:nvPr/>
        </p:nvSpPr>
        <p:spPr>
          <a:xfrm>
            <a:off x="739275" y="1807275"/>
            <a:ext cx="108249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Uses </a:t>
            </a: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ResNet-50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a backbone for feature extraction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Innovation: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Atrous Spatial Pyramid Pooling (ASPP)</a:t>
            </a:r>
            <a:endParaRPr b="1" sz="24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Strengths: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Captures multi-scale features by using different dilation rates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DeepLabV3+ is our CNN baseline. It excels at maintaining spatial resolution, which is vital for detecting thin, long structures like solid lane lines.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52" name="Google Shape;152;g3d7b8fb6b73_1_35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60"/>
              <a:buFont typeface="Helvetica Neue"/>
              <a:buNone/>
            </a:pPr>
            <a:r>
              <a:rPr lang="en-US" sz="4560"/>
              <a:t>Method 1: DeepLabV3+ (CNN-Based)</a:t>
            </a:r>
            <a:endParaRPr sz="4560"/>
          </a:p>
        </p:txBody>
      </p:sp>
      <p:sp>
        <p:nvSpPr>
          <p:cNvPr id="153" name="Google Shape;153;g3d7b8fb6b73_1_3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b8fb6b73_0_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d7b8fb6b73_0_23"/>
          <p:cNvSpPr txBox="1"/>
          <p:nvPr/>
        </p:nvSpPr>
        <p:spPr>
          <a:xfrm>
            <a:off x="739275" y="1807275"/>
            <a:ext cx="108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0" name="Google Shape;160;g3d7b8fb6b73_0_23"/>
          <p:cNvSpPr txBox="1"/>
          <p:nvPr>
            <p:ph type="title"/>
          </p:nvPr>
        </p:nvSpPr>
        <p:spPr>
          <a:xfrm>
            <a:off x="831850" y="439400"/>
            <a:ext cx="10515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60"/>
              <a:buFont typeface="Helvetica Neue"/>
              <a:buNone/>
            </a:pPr>
            <a:r>
              <a:rPr lang="en-US" sz="4260"/>
              <a:t>DeepLabV3+ (CNN-Based) Architecture</a:t>
            </a:r>
            <a:endParaRPr sz="4260"/>
          </a:p>
        </p:txBody>
      </p:sp>
      <p:pic>
        <p:nvPicPr>
          <p:cNvPr id="161" name="Google Shape;161;g3d7b8fb6b73_0_23" title="Gemini_Generated_Image_radvtqradvtqrad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600" y="1579851"/>
            <a:ext cx="8460101" cy="459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d7b8fb6b73_0_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7b8fb6b73_1_44"/>
          <p:cNvSpPr txBox="1"/>
          <p:nvPr>
            <p:ph type="title"/>
          </p:nvPr>
        </p:nvSpPr>
        <p:spPr>
          <a:xfrm>
            <a:off x="831850" y="439400"/>
            <a:ext cx="109323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Method 2: SegFormer (Transformer-Based)</a:t>
            </a:r>
            <a:endParaRPr/>
          </a:p>
        </p:txBody>
      </p:sp>
      <p:sp>
        <p:nvSpPr>
          <p:cNvPr id="168" name="Google Shape;168;g3d7b8fb6b73_1_4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g3d7b8fb6b73_1_44"/>
          <p:cNvSpPr txBox="1"/>
          <p:nvPr/>
        </p:nvSpPr>
        <p:spPr>
          <a:xfrm>
            <a:off x="739250" y="1947050"/>
            <a:ext cx="10932300" cy="3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Architecture: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Hierarchical Transformer encoder + Lightweight MLP decoder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Advantage: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Positional encoding-free; handles various resolutions efficiently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Strengths: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Captures long-range dependencies and global context.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SegFormer represents the latest shift toward Transformers in vision. It is more efficient than CNNs and better at understanding the overall "flow" of the road markings in a scene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70" name="Google Shape;170;g3d7b8fb6b73_1_4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b8fb6b73_0_32"/>
          <p:cNvSpPr txBox="1"/>
          <p:nvPr>
            <p:ph type="title"/>
          </p:nvPr>
        </p:nvSpPr>
        <p:spPr>
          <a:xfrm>
            <a:off x="831850" y="439400"/>
            <a:ext cx="109323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SegFormer (Transformer-Based) Architecture</a:t>
            </a:r>
            <a:endParaRPr/>
          </a:p>
        </p:txBody>
      </p:sp>
      <p:sp>
        <p:nvSpPr>
          <p:cNvPr id="176" name="Google Shape;176;g3d7b8fb6b73_0_3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nhance the quality of the image to top notch " id="177" name="Google Shape;177;g3d7b8fb6b73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850" y="1952275"/>
            <a:ext cx="9002300" cy="392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d7b8fb6b73_0_3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7b8fb6b73_1_55"/>
          <p:cNvSpPr txBox="1"/>
          <p:nvPr>
            <p:ph type="title"/>
          </p:nvPr>
        </p:nvSpPr>
        <p:spPr>
          <a:xfrm>
            <a:off x="831850" y="439400"/>
            <a:ext cx="109323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Methodology Explanation: Training Pipeline</a:t>
            </a:r>
            <a:endParaRPr/>
          </a:p>
        </p:txBody>
      </p:sp>
      <p:sp>
        <p:nvSpPr>
          <p:cNvPr id="184" name="Google Shape;184;g3d7b8fb6b73_1_5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g3d7b8fb6b73_1_55"/>
          <p:cNvSpPr txBox="1"/>
          <p:nvPr/>
        </p:nvSpPr>
        <p:spPr>
          <a:xfrm>
            <a:off x="728975" y="2012788"/>
            <a:ext cx="100737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Optimizer: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AdamW with a weight decay of 0.01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Learning Rate: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"Poly" schedule for smooth convergence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Augmentation: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Random Resizing, Horizontal Flipping, and Photo Metric Distortion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Loss Function: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Cross-Entropy Loss to optimize pixel accuracy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make the models robust, we applied heavy data augmentation. This ensures that the models can handle different perspectives and image qualities effectively during testing.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86" name="Google Shape;186;g3d7b8fb6b73_1_5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b2fd7fac_0_86"/>
          <p:cNvSpPr txBox="1"/>
          <p:nvPr>
            <p:ph type="title"/>
          </p:nvPr>
        </p:nvSpPr>
        <p:spPr>
          <a:xfrm>
            <a:off x="831850" y="439400"/>
            <a:ext cx="109323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Ensemble Strategy: SegFormer + DeepLabV3+</a:t>
            </a:r>
            <a:endParaRPr/>
          </a:p>
        </p:txBody>
      </p:sp>
      <p:sp>
        <p:nvSpPr>
          <p:cNvPr id="192" name="Google Shape;192;g3deb2fd7fac_0_8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g3deb2fd7fac_0_8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  <p:sp>
        <p:nvSpPr>
          <p:cNvPr id="194" name="Google Shape;194;g3deb2fd7fac_0_86"/>
          <p:cNvSpPr/>
          <p:nvPr/>
        </p:nvSpPr>
        <p:spPr>
          <a:xfrm>
            <a:off x="1141200" y="2590350"/>
            <a:ext cx="10212600" cy="3462000"/>
          </a:xfrm>
          <a:prstGeom prst="roundRect">
            <a:avLst>
              <a:gd fmla="val 16806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Combines the global context-awareness of </a:t>
            </a:r>
            <a:r>
              <a:rPr b="1"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Transformers 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(SegFormer) with the local spatial precision of </a:t>
            </a:r>
            <a:r>
              <a:rPr b="1"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CNNs 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DeepLab V3+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b="1"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Ensemble Logic: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Employs a Weighted Soft-Voting mechanism.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○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Instead of hard labels, the raw probability maps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(logits)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from both models are extracted.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○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Logits are averaged or weighted to produce a final refined prediction mask, reducing the individual errors of each architecture.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eb2fd7fac_0_86"/>
          <p:cNvSpPr/>
          <p:nvPr/>
        </p:nvSpPr>
        <p:spPr>
          <a:xfrm>
            <a:off x="1141200" y="1896325"/>
            <a:ext cx="10212600" cy="56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Approach Overview</a:t>
            </a:r>
            <a:endParaRPr b="1" sz="2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7b8fb6b73_1_63"/>
          <p:cNvSpPr txBox="1"/>
          <p:nvPr>
            <p:ph type="title"/>
          </p:nvPr>
        </p:nvSpPr>
        <p:spPr>
          <a:xfrm>
            <a:off x="831850" y="439400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Results: Quantitative Analysis</a:t>
            </a:r>
            <a:endParaRPr/>
          </a:p>
        </p:txBody>
      </p:sp>
      <p:sp>
        <p:nvSpPr>
          <p:cNvPr id="201" name="Google Shape;201;g3d7b8fb6b73_1_6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g3d7b8fb6b73_1_63"/>
          <p:cNvSpPr txBox="1"/>
          <p:nvPr/>
        </p:nvSpPr>
        <p:spPr>
          <a:xfrm>
            <a:off x="1194400" y="1518650"/>
            <a:ext cx="102072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Metric: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Mean Intersection over Union (mIoU)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SegFormer: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Higher performance on </a:t>
            </a:r>
            <a:r>
              <a:rPr b="1" lang="en-US" sz="21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 patterns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(Zebra/Arrows)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DeepLabV3+: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Consistent results on </a:t>
            </a:r>
            <a:r>
              <a:rPr b="1" lang="en-US" sz="21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linear markings</a:t>
            </a:r>
            <a:endParaRPr b="1"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Efficiency: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SegFormer achieved higher accuracy with fewer parameters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Quantitatively, SegFormer excels in complex pattern understanding, while DeepLabV3+ achieves higher overall mIoU due to its stability and strong multi-scale feature extraction.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203" name="Google Shape;203;g3d7b8fb6b73_1_6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7b8fb6b73_1_71"/>
          <p:cNvSpPr txBox="1"/>
          <p:nvPr>
            <p:ph type="title"/>
          </p:nvPr>
        </p:nvSpPr>
        <p:spPr>
          <a:xfrm>
            <a:off x="831850" y="439400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Results: SegFormer</a:t>
            </a:r>
            <a:endParaRPr/>
          </a:p>
        </p:txBody>
      </p:sp>
      <p:sp>
        <p:nvSpPr>
          <p:cNvPr id="209" name="Google Shape;209;g3d7b8fb6b73_1_7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g3d7b8fb6b73_1_71"/>
          <p:cNvSpPr/>
          <p:nvPr/>
        </p:nvSpPr>
        <p:spPr>
          <a:xfrm>
            <a:off x="1141213" y="1616400"/>
            <a:ext cx="29814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0.0020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(Zero-Shot)</a:t>
            </a:r>
            <a:endParaRPr b="1" sz="1546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g3d7b8fb6b73_1_71"/>
          <p:cNvSpPr/>
          <p:nvPr/>
        </p:nvSpPr>
        <p:spPr>
          <a:xfrm>
            <a:off x="4605294" y="1616400"/>
            <a:ext cx="29814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0.5341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Fine-tuned mIoU</a:t>
            </a:r>
            <a:endParaRPr sz="1273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2" name="Google Shape;212;g3d7b8fb6b73_1_71"/>
          <p:cNvSpPr/>
          <p:nvPr/>
        </p:nvSpPr>
        <p:spPr>
          <a:xfrm>
            <a:off x="8069376" y="1616400"/>
            <a:ext cx="29814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0.5321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Improvement</a:t>
            </a:r>
            <a:endParaRPr sz="1273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3" name="Google Shape;213;g3d7b8fb6b73_1_71"/>
          <p:cNvSpPr/>
          <p:nvPr/>
        </p:nvSpPr>
        <p:spPr>
          <a:xfrm>
            <a:off x="1141200" y="4204550"/>
            <a:ext cx="9909600" cy="1847700"/>
          </a:xfrm>
          <a:prstGeom prst="roundRect">
            <a:avLst>
              <a:gd fmla="val 16806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b="1"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IoU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large-contrast classes </a:t>
            </a:r>
            <a:r>
              <a:rPr b="1"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(Crossing, Yellow Lines)</a:t>
            </a:r>
            <a:endParaRPr b="1"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 IoU for thin geometries (Line 2: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0.2385</a:t>
            </a: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Orientation variants harder to distinguish (Fwd-Right: 0.144)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Fine-tuning improved mIoU by 27× over zero-shot baseline</a:t>
            </a:r>
            <a:endParaRPr b="1" sz="20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g3d7b8fb6b73_1_7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  <p:sp>
        <p:nvSpPr>
          <p:cNvPr id="215" name="Google Shape;215;g3d7b8fb6b73_1_71"/>
          <p:cNvSpPr/>
          <p:nvPr/>
        </p:nvSpPr>
        <p:spPr>
          <a:xfrm>
            <a:off x="1141200" y="3383800"/>
            <a:ext cx="9909600" cy="56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Takeaway from Segformer</a:t>
            </a:r>
            <a:endParaRPr b="1" sz="2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7b8fb6b73_0_59"/>
          <p:cNvSpPr/>
          <p:nvPr/>
        </p:nvSpPr>
        <p:spPr>
          <a:xfrm>
            <a:off x="1141200" y="4041925"/>
            <a:ext cx="9909600" cy="2010300"/>
          </a:xfrm>
          <a:prstGeom prst="roundRect">
            <a:avLst>
              <a:gd fmla="val 16806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Excellent background segmentation (0.989)</a:t>
            </a:r>
            <a:endParaRPr b="1"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Robust on Yellow Markings &amp; Crossings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Bicycle class lowest (0.316) — complex geometry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Strong consistency across directional arrows</a:t>
            </a:r>
            <a:endParaRPr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Font typeface="Calibri"/>
              <a:buChar char="●"/>
            </a:pPr>
            <a:r>
              <a:rPr lang="en-US" sz="2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ASPP effective for multi-scale road signs</a:t>
            </a:r>
            <a:endParaRPr b="1" sz="2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7b8fb6b73_0_59"/>
          <p:cNvSpPr/>
          <p:nvPr/>
        </p:nvSpPr>
        <p:spPr>
          <a:xfrm>
            <a:off x="1141200" y="3305263"/>
            <a:ext cx="9909600" cy="56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Takeaway from DeepLab V3+</a:t>
            </a:r>
            <a:endParaRPr b="1" sz="2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g3d7b8fb6b73_0_59"/>
          <p:cNvSpPr txBox="1"/>
          <p:nvPr>
            <p:ph type="title"/>
          </p:nvPr>
        </p:nvSpPr>
        <p:spPr>
          <a:xfrm>
            <a:off x="831850" y="439400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Results: DeepLabV3+</a:t>
            </a:r>
            <a:endParaRPr/>
          </a:p>
        </p:txBody>
      </p:sp>
      <p:sp>
        <p:nvSpPr>
          <p:cNvPr id="223" name="Google Shape;223;g3d7b8fb6b73_0_5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g3d7b8fb6b73_0_59"/>
          <p:cNvSpPr/>
          <p:nvPr/>
        </p:nvSpPr>
        <p:spPr>
          <a:xfrm>
            <a:off x="1141213" y="1616400"/>
            <a:ext cx="29814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0.6605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 (Zero-Shot)</a:t>
            </a:r>
            <a:endParaRPr b="1" sz="1546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g3d7b8fb6b73_0_59"/>
          <p:cNvSpPr/>
          <p:nvPr/>
        </p:nvSpPr>
        <p:spPr>
          <a:xfrm>
            <a:off x="4605294" y="1616400"/>
            <a:ext cx="29814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0.6716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Fine-tuned mIoU</a:t>
            </a:r>
            <a:endParaRPr sz="1273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6" name="Google Shape;226;g3d7b8fb6b73_0_59"/>
          <p:cNvSpPr/>
          <p:nvPr/>
        </p:nvSpPr>
        <p:spPr>
          <a:xfrm>
            <a:off x="8069376" y="1616400"/>
            <a:ext cx="29814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0.0111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Improvement</a:t>
            </a:r>
            <a:endParaRPr sz="1273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7" name="Google Shape;227;g3d7b8fb6b73_0_5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eb2fd7fac_0_75"/>
          <p:cNvSpPr/>
          <p:nvPr/>
        </p:nvSpPr>
        <p:spPr>
          <a:xfrm>
            <a:off x="1141200" y="3940063"/>
            <a:ext cx="9909600" cy="2211000"/>
          </a:xfrm>
          <a:prstGeom prst="roundRect">
            <a:avLst>
              <a:gd fmla="val 16806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ensemble method achieved an mIoU of 0.6628, effectively bridging the gap between the two models.</a:t>
            </a:r>
            <a:endParaRPr sz="1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Significant performance gains in detecting complex markings like "Forward Arrow" (+0.0067) and "Left Arrow" (+0.0112) compared to single-model benchmarks.</a:t>
            </a:r>
            <a:endParaRPr sz="1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ensemble is particularly robust against "weathered" or "non-standard" Indian road markings where single architectures often struggle with false positives.</a:t>
            </a:r>
            <a:endParaRPr sz="19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deb2fd7fac_0_75"/>
          <p:cNvSpPr/>
          <p:nvPr/>
        </p:nvSpPr>
        <p:spPr>
          <a:xfrm>
            <a:off x="1141200" y="3271300"/>
            <a:ext cx="9909600" cy="56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Takeaway from Ensemble Method</a:t>
            </a:r>
            <a:endParaRPr b="1" sz="2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g3deb2fd7fac_0_75"/>
          <p:cNvSpPr txBox="1"/>
          <p:nvPr>
            <p:ph type="title"/>
          </p:nvPr>
        </p:nvSpPr>
        <p:spPr>
          <a:xfrm>
            <a:off x="831850" y="439400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Results: </a:t>
            </a:r>
            <a:r>
              <a:rPr lang="en-US"/>
              <a:t>Ensembled Method</a:t>
            </a:r>
            <a:endParaRPr/>
          </a:p>
        </p:txBody>
      </p:sp>
      <p:sp>
        <p:nvSpPr>
          <p:cNvPr id="235" name="Google Shape;235;g3deb2fd7fac_0_7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g3deb2fd7fac_0_75"/>
          <p:cNvSpPr/>
          <p:nvPr/>
        </p:nvSpPr>
        <p:spPr>
          <a:xfrm>
            <a:off x="1141225" y="1616400"/>
            <a:ext cx="46689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0.6628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 Ensembled IoU</a:t>
            </a:r>
            <a:endParaRPr b="1" sz="1546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g3deb2fd7fac_0_75"/>
          <p:cNvSpPr/>
          <p:nvPr/>
        </p:nvSpPr>
        <p:spPr>
          <a:xfrm>
            <a:off x="6381900" y="1616400"/>
            <a:ext cx="4668900" cy="1521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50" lIns="83150" spcFirstLastPara="1" rIns="83150" wrap="square" tIns="83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b="1" lang="en-US" sz="45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0.0088</a:t>
            </a:r>
            <a:endParaRPr b="1" sz="4548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Improvement</a:t>
            </a:r>
            <a:endParaRPr sz="1273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8" name="Google Shape;238;g3deb2fd7fac_0_7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7b8fb6b73_1_99"/>
          <p:cNvSpPr txBox="1"/>
          <p:nvPr>
            <p:ph type="title"/>
          </p:nvPr>
        </p:nvSpPr>
        <p:spPr>
          <a:xfrm>
            <a:off x="831850" y="241325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850"/>
              <a:t>Ensemble - Results</a:t>
            </a:r>
            <a:endParaRPr sz="4850"/>
          </a:p>
        </p:txBody>
      </p:sp>
      <p:sp>
        <p:nvSpPr>
          <p:cNvPr id="244" name="Google Shape;244;g3d7b8fb6b73_1_9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g3d7b8fb6b73_1_9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  <p:graphicFrame>
        <p:nvGraphicFramePr>
          <p:cNvPr id="246" name="Google Shape;246;g3d7b8fb6b73_1_99"/>
          <p:cNvGraphicFramePr/>
          <p:nvPr/>
        </p:nvGraphicFramePr>
        <p:xfrm>
          <a:off x="952500" y="16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{A3FF7169-FBC8-4593-8C7A-5A2FBEA3C73B}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Class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Segformer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DeepLab V3+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Ensembled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Δ vs best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background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0.0000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0.9898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0.9907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+0.0009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BUS LANE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0.7777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0.7236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0.7780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+0.0003 (SF)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Yellow Markings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0.8926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0.8142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0.8774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-0.0152 (SF)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Line 1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0.5895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0.5166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0.5132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-0.0763 (SF)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Line 2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0.2385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0.4426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0.4349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-0.0077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Crossing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0.7429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0.7708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0.7708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+0.0000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Romb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0.5913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0.7821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0.7821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+0.0000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Test mIoU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0.4959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0.6716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0.6628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-0.0088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eb2fd7fac_0_22"/>
          <p:cNvSpPr txBox="1"/>
          <p:nvPr>
            <p:ph type="title"/>
          </p:nvPr>
        </p:nvSpPr>
        <p:spPr>
          <a:xfrm>
            <a:off x="831850" y="241325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850"/>
              <a:t>Ensemble - Results</a:t>
            </a:r>
            <a:endParaRPr sz="4850"/>
          </a:p>
        </p:txBody>
      </p:sp>
      <p:sp>
        <p:nvSpPr>
          <p:cNvPr id="252" name="Google Shape;252;g3deb2fd7fac_0_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g3deb2fd7fac_0_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  <p:graphicFrame>
        <p:nvGraphicFramePr>
          <p:cNvPr id="254" name="Google Shape;254;g3deb2fd7fac_0_22"/>
          <p:cNvGraphicFramePr/>
          <p:nvPr/>
        </p:nvGraphicFramePr>
        <p:xfrm>
          <a:off x="952500" y="132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{A3FF7169-FBC8-4593-8C7A-5A2FBEA3C73B}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Class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Segformer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DeepLab V3+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Ensembled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Δ vs best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SLOW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0.5584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0.6452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0.6456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+0.0004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Left Arrow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0.4944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0.7310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0.7421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+0.0112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Forward Arrow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0.6614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C343D"/>
                          </a:solidFill>
                        </a:rPr>
                        <a:t>0.7021</a:t>
                      </a:r>
                      <a:endParaRPr b="1" sz="1800">
                        <a:solidFill>
                          <a:srgbClr val="0C343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0.7087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+0.0067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Forward Arrow -Left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0.4917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0.6776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0.4205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-0.2572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Forward Arrow -Right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0.3192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0.6816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0.6833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+0.0017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Right Arrow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0.5852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0.6592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0.6658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+0.0066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Bicycle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0.0003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74E13"/>
                          </a:solidFill>
                        </a:rPr>
                        <a:t>0.2663</a:t>
                      </a:r>
                      <a:endParaRPr b="1" sz="1800">
                        <a:solidFill>
                          <a:srgbClr val="274E1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0.2658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-0.0005 (DL)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Test mIoU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0.4959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0.6716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0.6628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-0.0088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1B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7c9a1b364_0_0"/>
          <p:cNvSpPr txBox="1"/>
          <p:nvPr>
            <p:ph type="title"/>
          </p:nvPr>
        </p:nvSpPr>
        <p:spPr>
          <a:xfrm>
            <a:off x="913025" y="777575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Key Takeaways &amp; Conclusion</a:t>
            </a:r>
            <a:endParaRPr/>
          </a:p>
        </p:txBody>
      </p:sp>
      <p:sp>
        <p:nvSpPr>
          <p:cNvPr id="260" name="Google Shape;260;g3d7c9a1b364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g3d7c9a1b364_0_0"/>
          <p:cNvSpPr txBox="1"/>
          <p:nvPr/>
        </p:nvSpPr>
        <p:spPr>
          <a:xfrm>
            <a:off x="984900" y="1847300"/>
            <a:ext cx="102222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DeepLabV3+ (mIoU 0.6716)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outperforms </a:t>
            </a: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SegFormer (0.4959)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</a:t>
            </a:r>
            <a:r>
              <a:rPr b="1" lang="en-US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CeyMo — ASPP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effective for structured road marking patterns.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 provides significant uplift: SegFormer improved from near-zero to 0.4959; marginal but consistent gain for DeepLabV3+.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High-contrast, large-area classes (Crossings, Yellow Markings) are easiest; thin or rare classes (Bicycle, Line 2) remain challenging.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models show potential as a pre-training foundation for domain adaptation to aerial (UAV) imagery.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●"/>
            </a:pP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MMSegmentation + PyTorch pipeline is a robust, scalable framework for future dataset extensions and model upgrades.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g3d7c9a1b364_0_0"/>
          <p:cNvSpPr txBox="1"/>
          <p:nvPr/>
        </p:nvSpPr>
        <p:spPr>
          <a:xfrm>
            <a:off x="6431025" y="1370300"/>
            <a:ext cx="5215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g3d7c9a1b364_0_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7b8fb6b73_1_87"/>
          <p:cNvSpPr txBox="1"/>
          <p:nvPr/>
        </p:nvSpPr>
        <p:spPr>
          <a:xfrm>
            <a:off x="728975" y="1217413"/>
            <a:ext cx="100737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b="1" lang="en-US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Resolution tuning: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the survey it was noticed that the Segformer model performs pretty well on large scale input, so we’ll try to tune the image resolution from 512x512 to 1024x1024 pixels.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000"/>
              <a:buFont typeface="Helvetica Neue"/>
              <a:buChar char="●"/>
            </a:pPr>
            <a:r>
              <a:rPr b="1" lang="en-US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Augmentations: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Moving beyond just flipping and brightness adjustment we can also add color jitter, random cropping, blur etc.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1B19"/>
              </a:buClr>
              <a:buSzPts val="2000"/>
              <a:buFont typeface="Helvetica Neue"/>
              <a:buChar char="●"/>
            </a:pPr>
            <a:r>
              <a:rPr b="1" lang="en-US" sz="2000">
                <a:solidFill>
                  <a:srgbClr val="801B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Backbone Upgrade: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Upgrading the backbone model in DeepLab V3+ from Resnet to Xceptionet (helps in spatial encoding tasks).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000"/>
              <a:buFont typeface="Helvetica Neue"/>
              <a:buChar char="●"/>
            </a:pPr>
            <a:r>
              <a:rPr b="1" lang="en-US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Loss Function Implementation: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a combination of </a:t>
            </a:r>
            <a:r>
              <a:rPr b="1" lang="en-US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Distance-based Boundary Loss and Regional Loss (currently used)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both models to make sure predicted masks match or mimic the boundary pattern of the ground truth.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01B19"/>
              </a:buClr>
              <a:buSzPts val="2000"/>
              <a:buFont typeface="Helvetica Neue"/>
              <a:buChar char="●"/>
            </a:pPr>
            <a:r>
              <a:rPr b="1" lang="en-US" sz="2000">
                <a:solidFill>
                  <a:srgbClr val="801B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Transfer Learning: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soon as we achieve expected results, we would perform transfer learning on </a:t>
            </a:r>
            <a:r>
              <a:rPr b="1" lang="en-US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VisDrone Dataset 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fine-tune the model as per the requirement.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g3d7b8fb6b73_1_87"/>
          <p:cNvSpPr txBox="1"/>
          <p:nvPr>
            <p:ph type="title"/>
          </p:nvPr>
        </p:nvSpPr>
        <p:spPr>
          <a:xfrm>
            <a:off x="831850" y="286525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Future Enhancements</a:t>
            </a:r>
            <a:endParaRPr/>
          </a:p>
        </p:txBody>
      </p:sp>
      <p:sp>
        <p:nvSpPr>
          <p:cNvPr id="270" name="Google Shape;270;g3d7b8fb6b73_1_8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g3d7b8fb6b73_1_8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ec7f7d31e_0_27"/>
          <p:cNvSpPr txBox="1"/>
          <p:nvPr/>
        </p:nvSpPr>
        <p:spPr>
          <a:xfrm>
            <a:off x="728975" y="1217425"/>
            <a:ext cx="10624800" cy="47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</a:t>
            </a: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Chen, L. C., Papandreou, G., Kokkinos, I., Murphy, K., &amp; Yuille, A. L. (2017). Deeplab: Semantic image segmentation with deep convolutional nets, atrous convolution, and fully connected crfs. IEEE transactions on pattern analysis and machine intelligence, 40(4), 834-848.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Jayasinghe, O., Hemachandra, S., Anhettigama, D., Kariyawasam, S., Rodrigo, R., &amp; Jayasekara, P. (2022). Ceymo: See more on roads-a novel benchmark dataset for road marking detection. In Proceedings of the IEEE/CVF Winter Conference on Applications of Computer Vision (pp. 3104-3113).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</a:t>
            </a: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Xie, E., Wang, W., Yu, Z., Anandkumar, A., Alvarez, J. M., &amp; Luo, P. (2021). SegFormer: Simple and efficient design for semantic segmentation with transformers. Advances in neural information processing systems, 34, 12077-12090.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[4]</a:t>
            </a: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He, Z., Gan, Z., Gong, P., Li, M., &amp; Li, K. (2024). Research on traffic marking segmentation detection algorithm based on feature fusion. World Electric Vehicle Journal, 15(11), 497.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[5]</a:t>
            </a: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Jayasinghe, O., Hemachandra, S., Anhettigama, D., Kariyawasam, S., Rodrigo, R., &amp; Jayasekara, P. (2022, January). CeyMo: See more on roads - A novel benchmark dataset for road marking detection. In *Proceedings of the IEEE/CVF Winter Conference on Applications of Computer Vision (WACV)* (pp. 3104–3113).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g3dec7f7d31e_0_27"/>
          <p:cNvSpPr txBox="1"/>
          <p:nvPr>
            <p:ph type="title"/>
          </p:nvPr>
        </p:nvSpPr>
        <p:spPr>
          <a:xfrm>
            <a:off x="831850" y="286525"/>
            <a:ext cx="10932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78" name="Google Shape;278;g3dec7f7d31e_0_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g3dec7f7d31e_0_2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16-04-2026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2019-05-10T05:56:50Z</dcterms:created>
  <dc:creator>Microsoft Office User</dc:creator>
</cp:coreProperties>
</file>